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embeddedFontLst>
    <p:embeddedFont>
      <p:font typeface="Calibri" panose="020F0502020204030204"/>
      <p:regular r:id="rId24"/>
      <p:bold r:id="rId25"/>
      <p:italic r:id="rId26"/>
      <p:boldItalic r:id="rId27"/>
    </p:embeddedFont>
    <p:embeddedFont>
      <p:font typeface="Cambria" panose="02040503050406030204"/>
      <p:regular r:id="rId28"/>
      <p:bold r:id="rId29"/>
      <p:italic r:id="rId30"/>
      <p:boldItalic r:id="rId31"/>
    </p:embeddedFont>
    <p:embeddedFont>
      <p:font typeface="Roboto" panose="0200000000000000000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112CDE-5FDA-4E9B-8773-7A6DA2ED8F42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font" Target="fonts/font9.fntdata"/><Relationship Id="rId33" Type="http://schemas.openxmlformats.org/officeDocument/2006/relationships/font" Target="fonts/font10.fntdata"/><Relationship Id="rId34" Type="http://schemas.openxmlformats.org/officeDocument/2006/relationships/font" Target="fonts/font11.fntdata"/><Relationship Id="rId35" Type="http://schemas.openxmlformats.org/officeDocument/2006/relationships/font" Target="fonts/font1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56f1998e3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6" name="Google Shape;106;g2756f1998e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56f1998e3_1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33" name="Google Shape;133;g2756f1998e3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56f1998e3_1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1" name="Google Shape;151;g2756f1998e3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9" name="Google Shape;1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56f1998e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78" name="Google Shape;178;g2756f1998e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56f1998e3_1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87" name="Google Shape;187;g2756f1998e3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6" name="Google Shape;1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56f1998e3_1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06" name="Google Shape;206;g2756f1998e3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56f1998e3_1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16" name="Google Shape;216;g2756f1998e3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56f1998e3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26" name="Google Shape;226;g2756f1998e3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36" name="Google Shape;2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836032" y="1236704"/>
            <a:ext cx="9144000" cy="100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 panose="02040503050406030204"/>
              <a:buNone/>
            </a:pPr>
            <a:endParaRPr sz="1800" b="1" dirty="0"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000" b="1" i="0" dirty="0">
                <a:solidFill>
                  <a:srgbClr val="1F497D"/>
                </a:solidFill>
                <a:latin typeface="Cambria"/>
              </a:rPr>
              <a:t>ACADEMIC YEAR 2026 - 2027</a:t>
            </a:r>
          </a:p>
          <a:p>
            <a:pPr algn="ctr"/>
            <a:r>
              <a:rPr lang="en-IN" sz="1800" b="1" i="0" dirty="0">
                <a:solidFill>
                  <a:srgbClr val="800000"/>
                </a:solidFill>
                <a:latin typeface="Cambria"/>
              </a:rPr>
              <a:t>S5 PROJECT WORK I  |  SECOND REVIEW</a:t>
            </a: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836032" y="2204425"/>
            <a:ext cx="9144000" cy="127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endParaRPr lang="en-US" b="1">
              <a:solidFill>
                <a:srgbClr val="385623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A1A1A"/>
                </a:solidFill>
                <a:latin typeface="Cambria"/>
              </a:rPr>
              <a:t>INTELLIGENT MULTI-AGENT FRAMEWORK FOR</a:t>
            </a:r>
          </a:p>
          <a:p>
            <a:pPr algn="ctr"/>
            <a:r>
              <a:rPr lang="en-IN" sz="2200" b="1" i="0" dirty="0">
                <a:solidFill>
                  <a:srgbClr val="1A1A1A"/>
                </a:solidFill>
                <a:latin typeface="Cambria"/>
              </a:rPr>
              <a:t>AUTOMATED SOFTWARE TESTING AND BUG ANALYSIS</a:t>
            </a:r>
          </a:p>
          <a:p>
            <a:pPr algn="ctr"/>
            <a:r>
              <a:rPr lang="en-IN" sz="1800" b="1" i="0" dirty="0">
                <a:solidFill>
                  <a:srgbClr val="007070"/>
                </a:solidFill>
                <a:latin typeface="Cambria"/>
              </a:rPr>
              <a:t>(SentinelMesh)</a:t>
            </a: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80109" y="5153889"/>
            <a:ext cx="5226781" cy="1413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1000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  <a:r>
              <a:rPr lang="en-IN" sz="1600" b="1" i="0" dirty="0">
                <a:solidFill>
                  <a:srgbClr val="1F497D"/>
                </a:solidFill>
                <a:latin typeface="Cambria"/>
              </a:rPr>
              <a:t>BATCH MEMBERS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Hariesh P  (7376241CS195)  -  Dept. of CSE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Midhum M  (7376242AL152)   -  Dept. of AIML</a:t>
            </a:r>
          </a:p>
        </p:txBody>
      </p:sp>
      <p:sp>
        <p:nvSpPr>
          <p:cNvPr id="92" name="Google Shape;92;p1"/>
          <p:cNvSpPr txBox="1"/>
          <p:nvPr/>
        </p:nvSpPr>
        <p:spPr>
          <a:xfrm>
            <a:off x="6771255" y="5126181"/>
            <a:ext cx="5032817" cy="144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  <a:r>
              <a:rPr lang="en-IN" sz="1600" b="1" i="0" dirty="0">
                <a:solidFill>
                  <a:srgbClr val="1F497D"/>
                </a:solidFill>
                <a:latin typeface="Cambria"/>
              </a:rPr>
              <a:t>PROJECT GUIDE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Ms. Ramya R  (CS1906)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Assistant Professor</a:t>
            </a:r>
          </a:p>
          <a:p>
            <a:pPr algn="l"/>
            <a:r>
              <a:rPr lang="en-IN" sz="1300" b="0" i="0" dirty="0">
                <a:solidFill>
                  <a:srgbClr val="000000"/>
                </a:solidFill>
                <a:latin typeface="Cambria"/>
              </a:rPr>
              <a:t>Dept. of Computer Science and Engineering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1446298" y="3994171"/>
            <a:ext cx="29371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BIT PROJECT ID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S5-CSE-2026-195</a:t>
            </a:r>
          </a:p>
        </p:txBody>
      </p:sp>
      <p:sp>
        <p:nvSpPr>
          <p:cNvPr id="94" name="Google Shape;94;p1"/>
          <p:cNvSpPr txBox="1"/>
          <p:nvPr/>
        </p:nvSpPr>
        <p:spPr>
          <a:xfrm>
            <a:off x="5666510" y="3970524"/>
            <a:ext cx="61375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CATEGORY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INTERNAL  -  OWN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body" idx="1"/>
          </p:nvPr>
        </p:nvSpPr>
        <p:spPr>
          <a:xfrm>
            <a:off x="838200" y="983673"/>
            <a:ext cx="10515600" cy="519329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Phase 1  -  Problem Analysis &amp; Literature Survey  (Weeks 1-2)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Identified limitations in manual software testing and defect triage workflows.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Reviewed static analysis, mutation testing, and multi-agent coordination research.</a:t>
            </a:r>
          </a:p>
          <a:p>
            <a:pPr algn="l"/>
            <a:r>
              <a:rPr lang="en-IN" sz="6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Phase 2  -  Architecture &amp; Agent Design  (Weeks 2-3)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Designed 9-agent coordination graph: Orchestrator, Static Analysis, Test Generation,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Test Execution, Bug Classification, Root Cause, Auto-Fix, Critic, Report agents.</a:t>
            </a:r>
          </a:p>
          <a:p>
            <a:pPr algn="l"/>
            <a:r>
              <a:rPr lang="en-IN" sz="6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Phase 3  -  Implementation  (Weeks 3-5)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Implemented AST-based analysis, test synthesis, sandbox execution, and reporting.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Integrated FastAPI backend, SQLite/SQLAlchemy, and React mission-control dashboard.</a:t>
            </a:r>
          </a:p>
          <a:p>
            <a:pPr algn="l"/>
            <a:r>
              <a:rPr lang="en-IN" sz="6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Phase 4  -  Validation &amp; Documentation  (Weeks 6-7)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Validated: 37/37 tests passing, 85% platform code coverage.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Prepared full academic project report and Second Review presentation.</a:t>
            </a:r>
          </a:p>
        </p:txBody>
      </p:sp>
      <p:sp>
        <p:nvSpPr>
          <p:cNvPr id="100" name="Google Shape;10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01" name="Google Shape;10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02" name="Google Shape;10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2F5496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PROJECT WORK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56f1998e3_1_0"/>
          <p:cNvSpPr txBox="1">
            <a:spLocks noGrp="1"/>
          </p:cNvSpPr>
          <p:nvPr>
            <p:ph type="body" idx="1"/>
          </p:nvPr>
        </p:nvSpPr>
        <p:spPr>
          <a:xfrm>
            <a:off x="838200" y="983673"/>
            <a:ext cx="10515600" cy="5193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Python 3.11+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 Core agent logic, AST parsing, sandboxed test execution, and backend services.</a:t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FastAPI + Uvicorn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 RESTful API gateway, WebSocket communication, and health-monitoring endpoints.</a:t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Python AST Module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 Structural code parsing, cyclomatic-complexity scoring, security-smell detection.</a:t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SQLite + SQLAlchemy ORM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 Persistent storage of analysis results, test records, patch history, agent state.</a:t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React 18 (Vite)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 Mission-control dashboard: real-time telemetry, risk heat-map, report viewer.</a:t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pytest + coverage.py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 37/37 automated tests passing; 85% platform code coverage measured.</a:t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Subprocess Sandbox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 Isolated test execution with 20-second timeout and archive-size controls.</a:t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Git + GitHub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 Version control  -  github.com/HARIESHPERIASAMY/S5_Mini_Project</a:t>
            </a:r>
          </a:p>
        </p:txBody>
      </p:sp>
      <p:sp>
        <p:nvSpPr>
          <p:cNvPr id="109" name="Google Shape;109;g2756f1998e3_1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10" name="Google Shape;110;g2756f1998e3_1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11" name="Google Shape;111;g2756f1998e3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12" name="Google Shape;112;g2756f1998e3_1_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2F5496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EFFECTIVE UTILIZATION OF MODERN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4192610" y="776288"/>
            <a:ext cx="3965530" cy="544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19" name="Google Shape;1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lang="en-US"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20" name="Google Shape;1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User submits repository or demo project ZIP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ctr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FastAPI gateway validates and routes to Orchestrator Agent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Static Analysis Agent  &gt;&gt;  AST parsing, risk scoring, security-smell detection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Test Generation Agent  &gt;&gt;  unit, boundary, edge-case &amp; mutation test cases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Test Execution Agent  &gt;&gt;  sandbox run, coverage collection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Bug Classification Agent  &gt;&gt;  severity tagging, duplicate detection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Root Cause Agent  &gt;&gt;  stack-trace mapping, causal explanation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Auto-Fix Agent  &gt;&gt;  unified-diff patch generation, sandbox re-verification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Critic/Reviewer Agent  &gt;&gt;  findings debate, consensus scoring</a:t>
            </a:r>
          </a:p>
          <a:p>
            <a:pPr algn="ctr"/>
            <a:r>
              <a:rPr lang="en-IN" sz="1400" b="1" i="0" dirty="0">
                <a:solidFill>
                  <a:srgbClr val="800000"/>
                </a:solidFill>
                <a:latin typeface="Cambria"/>
              </a:rPr>
              <a:t>  |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Report Agent  &gt;&gt;  executive report + dashboard telemetry export</a:t>
            </a:r>
          </a:p>
          <a:p>
            <a:pPr algn="l"/>
            <a:r>
              <a:rPr lang="en-IN" sz="6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300" b="0" i="1" dirty="0">
                <a:solidFill>
                  <a:srgbClr val="007070"/>
                </a:solidFill>
                <a:latin typeface="Cambria"/>
              </a:rPr>
              <a:t>Feedback loop: failed tests &gt;&gt; patch proposal &gt;&gt; sandbox re-run &gt;&gt; verified/unresolved</a:t>
            </a:r>
          </a:p>
        </p:txBody>
      </p:sp>
      <p:sp>
        <p:nvSpPr>
          <p:cNvPr id="121" name="Google Shape;121;p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2F5496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PROPOSED METHODOLOGY (FLOW CHART)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27" name="Google Shape;1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lang="en-US"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28" name="Google Shape;1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9" name="Google Shape;129;p10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2F5496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PROPOSED METHODOLOGY (GANTT CHART)</a:t>
            </a:r>
          </a:p>
        </p:txBody>
      </p:sp>
      <p:pic>
        <p:nvPicPr>
          <p:cNvPr id="130" name="Google Shape;130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670464" y="903161"/>
            <a:ext cx="6851071" cy="4888039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56f1998e3_1_59"/>
          <p:cNvSpPr txBox="1">
            <a:spLocks noGrp="1"/>
          </p:cNvSpPr>
          <p:nvPr>
            <p:ph type="body" idx="1"/>
          </p:nvPr>
        </p:nvSpPr>
        <p:spPr>
          <a:xfrm>
            <a:off x="838200" y="983673"/>
            <a:ext cx="10515600" cy="5193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1. Orchestrator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Manages execution graph, agent retries, and lifecycle state transitions.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2. Static Analysis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AST parsing, cyclomatic complexity, security-smell detection, risk scores per file.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3. Test Generation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Prioritised unit, boundary, edge-case, and property-based pytest case generation.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4. Test Execution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Runs tests in isolated subprocess sandbox; tracks coverage and flaky-test flags.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5. Bug Classification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Labels defect type, severity level; detects duplicate findings.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6. Root Cause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Maps stack traces to source locations; generates causal explanations.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7. Auto-Fix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Proposes unified-diff patches; verifies by re-running tests in sandbox.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8. Critic / Reviewer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Challenges findings via debate; computes consensus quality score.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9. Report Agent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Builds executive &amp; technical reports; streams telemetry to React dashboard.</a:t>
            </a:r>
          </a:p>
        </p:txBody>
      </p:sp>
      <p:sp>
        <p:nvSpPr>
          <p:cNvPr id="136" name="Google Shape;136;g2756f1998e3_1_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37" name="Google Shape;137;g2756f1998e3_1_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38" name="Google Shape;138;g2756f1998e3_1_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39" name="Google Shape;139;g2756f1998e3_1_59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2F5496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SYSTEM MODULES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/>
            <a:r>
              <a:rPr lang="en-IN" sz="1800" b="1" i="0" dirty="0">
                <a:solidFill>
                  <a:srgbClr val="1F497D"/>
                </a:solidFill>
                <a:latin typeface="Cambria"/>
              </a:rPr>
              <a:t>ADVANTAGES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Nine specialised agents divide testing tasks - no single point of failure.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AST-based static analysis provides deep source-level risk signals.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Subprocess sandbox limits execution time (20 s) and extraction size.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Patch proposals are re-tested in sandbox before being marked verified.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Structured JSON reports and risk heat-map improve review visibility.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Offline deterministic fallback - works without a cloud LLM provider.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37/37 tests passing; 85% platform code coverage validated.</a:t>
            </a:r>
          </a:p>
          <a:p>
            <a:pPr algn="l"/>
            <a:r>
              <a:rPr lang="en-IN" sz="8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800" b="1" i="0" dirty="0">
                <a:solidFill>
                  <a:srgbClr val="800000"/>
                </a:solidFill>
                <a:latin typeface="Cambria"/>
              </a:rPr>
              <a:t>LIMITATIONS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Static and test-generation rules are currently Python-focused.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Rule-based detectors may miss context-dependent or semantic defects.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LLM-assisted features depend on external API quotas (configurable).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Sandbox 20-second timeout may be insufficient for very large codebases.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Auto-generated tests do not guarantee complete path/branch coverage.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Multi-language support (Java, C++) is planned future work.</a:t>
            </a:r>
          </a:p>
        </p:txBody>
      </p:sp>
      <p:sp>
        <p:nvSpPr>
          <p:cNvPr id="145" name="Google Shape;14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46" name="Google Shape;14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2F5496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ADVANTAGES AND DISADVANTAGES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56f1998e3_1_51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SentinelMesh demonstrates that multi-agent coordination can automate the full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software quality lifecycle - from static analysis to sandbox-verified auto-fix.</a:t>
            </a:r>
          </a:p>
          <a:p>
            <a:pPr algn="l"/>
            <a:r>
              <a:rPr lang="en-IN" sz="5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Nine dedicated agents collaborate via an event-driven bus without tight coupling,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enabling independent extensibility and testing of each component.</a:t>
            </a:r>
          </a:p>
          <a:p>
            <a:pPr algn="l"/>
            <a:r>
              <a:rPr lang="en-IN" sz="5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FastAPI backend, SQLite persistence, sandboxed execution, and a React dashboard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provide a production-grade foundation for local-first quality engineering.</a:t>
            </a:r>
          </a:p>
          <a:p>
            <a:pPr algn="l"/>
            <a:r>
              <a:rPr lang="en-IN" sz="5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Validated result: 37/37 automated tests passing; 85% platform code coverage.</a:t>
            </a:r>
          </a:p>
          <a:p>
            <a:pPr algn="l"/>
            <a:r>
              <a:rPr lang="en-IN" sz="5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Future directions: multi-language analysis (Java, C++, Go), cloud deployment,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LLM-augmented patch generation, and cross-repository trend analytics.</a:t>
            </a:r>
          </a:p>
          <a:p>
            <a:pPr algn="l"/>
            <a:r>
              <a:rPr lang="en-IN" sz="8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Outcome: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A fully traceable workflow from source-code submission to structured bug evidence,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  root-cause explanation, sandbox-verified patches, and exportable executive report.</a:t>
            </a:r>
          </a:p>
        </p:txBody>
      </p:sp>
      <p:sp>
        <p:nvSpPr>
          <p:cNvPr id="154" name="Google Shape;154;g2756f1998e3_1_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55" name="Google Shape;155;g2756f1998e3_1_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56" name="Google Shape;156;g2756f1998e3_1_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57" name="Google Shape;157;g2756f1998e3_1_51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2F5496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Background should be White in all slides </a:t>
            </a:r>
            <a:endParaRPr lang="en-US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Font </a:t>
            </a:r>
            <a:endParaRPr lang="en-US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Cambria  </a:t>
            </a:r>
            <a:endParaRPr lang="en-US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Font Size &amp; Colors </a:t>
            </a:r>
            <a:endParaRPr lang="en-US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Headings – </a:t>
            </a:r>
            <a:r>
              <a:rPr lang="en-US" b="1">
                <a:solidFill>
                  <a:srgbClr val="0070C0"/>
                </a:solidFill>
              </a:rPr>
              <a:t>Blue – UPPER CASE – Bold </a:t>
            </a:r>
            <a:r>
              <a:rPr lang="en-US"/>
              <a:t>( Font Size 24)</a:t>
            </a:r>
            <a:endParaRPr lang="en-US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Subheadings </a:t>
            </a:r>
            <a:r>
              <a:rPr lang="en-US" b="1">
                <a:solidFill>
                  <a:srgbClr val="C00000"/>
                </a:solidFill>
              </a:rPr>
              <a:t>Maroon / </a:t>
            </a:r>
            <a:r>
              <a:rPr lang="en-US" b="1">
                <a:solidFill>
                  <a:srgbClr val="7030A0"/>
                </a:solidFill>
              </a:rPr>
              <a:t>Violet</a:t>
            </a:r>
            <a:r>
              <a:rPr lang="en-US" b="1">
                <a:solidFill>
                  <a:srgbClr val="0070C0"/>
                </a:solidFill>
              </a:rPr>
              <a:t> / </a:t>
            </a:r>
            <a:r>
              <a:rPr lang="en-US" b="1">
                <a:solidFill>
                  <a:srgbClr val="548135"/>
                </a:solidFill>
              </a:rPr>
              <a:t>Green</a:t>
            </a:r>
            <a:r>
              <a:rPr lang="en-US" b="1">
                <a:solidFill>
                  <a:srgbClr val="0070C0"/>
                </a:solidFill>
              </a:rPr>
              <a:t> - Sentence Case- Bold </a:t>
            </a:r>
            <a:r>
              <a:rPr lang="en-US"/>
              <a:t>( Font Size 24)</a:t>
            </a:r>
            <a:endParaRPr lang="en-US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Black for Contents ( Font Size 20)</a:t>
            </a:r>
            <a:endParaRPr lang="en-US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</a:p>
        </p:txBody>
      </p:sp>
      <p:sp>
        <p:nvSpPr>
          <p:cNvPr id="163" name="Google Shape;16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64" name="Google Shape;16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65" name="Google Shape;16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2F5496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COST BENEFIT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endParaRPr lang="en-US" b="1">
              <a:solidFill>
                <a:srgbClr val="C00000"/>
              </a:solidFill>
            </a:endParaRPr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Member 1 :  HARIESH P  (7376241CS195)  -  Dept. of CSE</a:t>
            </a:r>
          </a:p>
          <a:p>
            <a:pPr algn="l"/>
            <a:r>
              <a:rPr lang="en-IN" sz="6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1.  Designed overall system architecture and 9-agent coordination graph.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2.  Implemented Orchestrator, Static Analysis, Bug Classification &amp; Root Cause agents.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3.  Developed FastAPI backend: API gateway, WebSocket endpoints, health checks.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4.  Built SQLAlchemy ORM models, database schema, and migration scripts.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5.  Wrote 37 automated unit and integration tests; achieved 85% code coverage.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6.  Authored full academic project report and Second Review documentation.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7.  Managed Git repository and maintained clean commit history on GitHub.</a:t>
            </a:r>
          </a:p>
        </p:txBody>
      </p:sp>
      <p:sp>
        <p:nvSpPr>
          <p:cNvPr id="172" name="Google Shape;17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73" name="Google Shape;17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lang="en-US"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74" name="Google Shape;17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75" name="Google Shape;175;p17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0070C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INDIVIDUAL CONTRIBUTIONS TO THE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56f1998e3_1_75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endParaRPr lang="en-US" b="1">
              <a:solidFill>
                <a:srgbClr val="C00000"/>
              </a:solidFill>
            </a:endParaRPr>
            <a:r>
              <a:rPr lang="en-IN" sz="1600" b="1" i="0" dirty="0">
                <a:solidFill>
                  <a:srgbClr val="800000"/>
                </a:solidFill>
                <a:latin typeface="Cambria"/>
              </a:rPr>
              <a:t>Member 2 :  MIDHUM M  (7376242AL152)  -  Dept. of AIML</a:t>
            </a:r>
          </a:p>
          <a:p>
            <a:pPr algn="l"/>
            <a:r>
              <a:rPr lang="en-IN" sz="6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1.  Implemented Test Generation, Test Execution, and Auto-Fix agents.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2.  Designed and integrated the subprocess sandbox with timeout &amp; size controls.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3.  Developed Critic / Reviewer Agent for consensus scoring and debate logic.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4.  Built Report Agent and executive / technical report generation pipeline.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5.  Developed React 18 (Vite) mission-control dashboard with real-time telemetry.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6.  Integrated frontend with backend WebSocket streams and risk heat-map.</a:t>
            </a:r>
          </a:p>
          <a:p>
            <a:pPr algn="l"/>
            <a:r>
              <a:rPr lang="en-IN" sz="1500" b="0" i="0" dirty="0">
                <a:solidFill>
                  <a:srgbClr val="000000"/>
                </a:solidFill>
                <a:latin typeface="Cambria"/>
              </a:rPr>
              <a:t>7.  Assisted in validation testing, debugging, and Second Review preparation.</a:t>
            </a:r>
          </a:p>
        </p:txBody>
      </p:sp>
      <p:sp>
        <p:nvSpPr>
          <p:cNvPr id="181" name="Google Shape;181;g2756f1998e3_1_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82" name="Google Shape;182;g2756f1998e3_1_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83" name="Google Shape;183;g2756f1998e3_1_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84" name="Google Shape;184;g2756f1998e3_1_75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0070C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INDIVIDUAL CONTRIBUTIONS TO THE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56f1998e3_1_67"/>
          <p:cNvSpPr txBox="1">
            <a:spLocks noGrp="1"/>
          </p:cNvSpPr>
          <p:nvPr>
            <p:ph type="body" idx="1"/>
          </p:nvPr>
        </p:nvSpPr>
        <p:spPr>
          <a:xfrm>
            <a:off x="838199" y="775855"/>
            <a:ext cx="10674900" cy="5444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endParaRPr lang="en-US" b="1">
              <a:solidFill>
                <a:srgbClr val="C00000"/>
              </a:solidFill>
            </a:endParaRPr>
            <a:r>
              <a:rPr lang="en-IN" sz="1800" b="1" i="0" dirty="0">
                <a:solidFill>
                  <a:srgbClr val="800000"/>
                </a:solidFill>
                <a:latin typeface="Cambria"/>
              </a:rPr>
              <a:t>SYSTEM ARCHITECTURE OVERVIEW</a:t>
            </a:r>
          </a:p>
          <a:p>
            <a:pPr algn="l"/>
            <a:r>
              <a:rPr lang="en-IN" sz="500" b="0" i="0" dirty="0">
                <a:solidFill>
                  <a:srgbClr val="000000"/>
                </a:solidFill>
                <a:latin typeface="Cambria"/>
              </a:rPr>
              <a:t/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Client Layer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React 18 dashboard: repository upload, live agent log, risk heat-map, report download.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API Gateway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FastAPI + Uvicorn: REST endpoints, WebSocket streams, CORS, request validation.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Agent Orchestration Layer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Event-driven bus coordinates 9 agents with retry, timeout, lifecycle management.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Analysis &amp; Execution Layer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Python AST engine, pytest runner, unified-diff patch applier, subprocess sandbox.</a:t>
            </a:r>
          </a:p>
          <a:p>
            <a:pPr algn="l"/>
            <a:r>
              <a:rPr lang="en-IN" sz="1500" b="1" i="0" dirty="0">
                <a:solidFill>
                  <a:srgbClr val="1F497D"/>
                </a:solidFill>
                <a:latin typeface="Cambria"/>
              </a:rPr>
              <a:t>Persistence Layer</a:t>
            </a:r>
          </a:p>
          <a:p>
            <a:pPr algn="l"/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   SQLite + SQLAlchemy ORM: analysis sessions, test records, patches, agent logs.</a:t>
            </a:r>
          </a:p>
        </p:txBody>
      </p:sp>
      <p:sp>
        <p:nvSpPr>
          <p:cNvPr id="190" name="Google Shape;190;g2756f1998e3_1_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191" name="Google Shape;191;g2756f1998e3_1_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192" name="Google Shape;192;g2756f1998e3_1_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193" name="Google Shape;193;g2756f1998e3_1_67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0070C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0070C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1600" b="1" i="0" dirty="0">
                <a:solidFill>
                  <a:srgbClr val="1F497D"/>
                </a:solidFill>
                <a:latin typeface="Cambria"/>
              </a:rPr>
              <a:t>STATUS ON PARTIAL COMPLETION AND SUBMISSION OF PROJECT REPORT</a:t>
            </a:r>
          </a:p>
        </p:txBody>
      </p:sp>
      <p:sp>
        <p:nvSpPr>
          <p:cNvPr id="199" name="Google Shape;199;p22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</a:pPr>
            <a:endParaRPr sz="2000">
              <a:solidFill>
                <a:srgbClr val="385623"/>
              </a:solidFill>
            </a:endParaRPr>
            <a:r>
              <a:rPr lang="en-IN" sz="1500" b="1" i="0" dirty="0">
                <a:solidFill>
                  <a:srgbClr val="800000"/>
                </a:solidFill>
                <a:latin typeface="Cambria"/>
              </a:rPr>
              <a:t>List of Documents to be Submitted</a:t>
            </a:r>
          </a:p>
        </p:txBody>
      </p:sp>
      <p:sp>
        <p:nvSpPr>
          <p:cNvPr id="200" name="Google Shape;20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201" name="Google Shape;20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202" name="Google Shape;20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graphicFrame>
        <p:nvGraphicFramePr>
          <p:cNvPr id="203" name="Google Shape;203;p22"/>
          <p:cNvGraphicFramePr/>
          <p:nvPr/>
        </p:nvGraphicFramePr>
        <p:xfrm>
          <a:off x="838200" y="1645087"/>
          <a:ext cx="10111525" cy="4235310"/>
        </p:xfrm>
        <a:graphic>
          <a:graphicData uri="http://schemas.openxmlformats.org/drawingml/2006/table">
            <a:tbl>
              <a:tblPr firstRow="1" bandRow="1">
                <a:noFill/>
                <a:tableStyleId>{59112CDE-5FDA-4E9B-8773-7A6DA2ED8F42}</a:tableStyleId>
              </a:tblPr>
              <a:tblGrid>
                <a:gridCol w="988300"/>
                <a:gridCol w="5752725"/>
                <a:gridCol w="3370500"/>
              </a:tblGrid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SL. No.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List of Documents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Status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Cover Page &amp; Title Page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Bonafide Certificate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Declaration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4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Acknowledgement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5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Chapter I - Introduction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6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Chapter II - Literature Survey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56f1998e3_1_1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0070C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000" b="1" i="0" dirty="0">
                <a:solidFill>
                  <a:srgbClr val="1F497D"/>
                </a:solidFill>
                <a:latin typeface="Cambria"/>
              </a:rPr>
              <a:t>SUBMISSION OF PROJECT REPORT</a:t>
            </a:r>
          </a:p>
        </p:txBody>
      </p:sp>
      <p:sp>
        <p:nvSpPr>
          <p:cNvPr id="209" name="Google Shape;209;g2756f1998e3_1_15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</a:pPr>
            <a:endParaRPr sz="2000">
              <a:solidFill>
                <a:srgbClr val="385623"/>
              </a:solidFill>
            </a:endParaRPr>
            <a:r>
              <a:rPr lang="en-IN" sz="1500" b="1" i="0" dirty="0">
                <a:solidFill>
                  <a:srgbClr val="800000"/>
                </a:solidFill>
                <a:latin typeface="Cambria"/>
              </a:rPr>
              <a:t>List of Documents to be Submitted</a:t>
            </a:r>
          </a:p>
        </p:txBody>
      </p:sp>
      <p:sp>
        <p:nvSpPr>
          <p:cNvPr id="210" name="Google Shape;210;g2756f1998e3_1_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211" name="Google Shape;211;g2756f1998e3_1_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212" name="Google Shape;212;g2756f1998e3_1_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graphicFrame>
        <p:nvGraphicFramePr>
          <p:cNvPr id="213" name="Google Shape;213;g2756f1998e3_1_15"/>
          <p:cNvGraphicFramePr/>
          <p:nvPr/>
        </p:nvGraphicFramePr>
        <p:xfrm>
          <a:off x="838200" y="1645087"/>
          <a:ext cx="10111525" cy="4503830"/>
        </p:xfrm>
        <a:graphic>
          <a:graphicData uri="http://schemas.openxmlformats.org/drawingml/2006/table">
            <a:tbl>
              <a:tblPr firstRow="1" bandRow="1">
                <a:noFill/>
                <a:tableStyleId>{59112CDE-5FDA-4E9B-8773-7A6DA2ED8F42}</a:tableStyleId>
              </a:tblPr>
              <a:tblGrid>
                <a:gridCol w="988300"/>
                <a:gridCol w="5752725"/>
                <a:gridCol w="3370500"/>
              </a:tblGrid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SL. No.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List of Documents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Status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2400">
                        <a:solidFill>
                          <a:srgbClr val="7030A0"/>
                        </a:solidFill>
                      </a:endParaRPr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2400">
                        <a:solidFill>
                          <a:srgbClr val="7030A0"/>
                        </a:solidFill>
                      </a:endParaRPr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Chapter III - Objectives &amp; Methodology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8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Chapter IV - Proposed Work Modules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9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Chapter V - Results and Discussion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2400">
                        <a:solidFill>
                          <a:srgbClr val="7030A0"/>
                        </a:solidFill>
                      </a:endParaRPr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2400">
                        <a:solidFill>
                          <a:srgbClr val="7030A0"/>
                        </a:solidFill>
                      </a:endParaRPr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Chapter VI - Conclusions &amp; Future Work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11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14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References (IEEE format, 28 entries)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2400">
                        <a:solidFill>
                          <a:srgbClr val="7030A0"/>
                        </a:solidFill>
                      </a:endParaRPr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12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2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2400"/>
                        <a:buFont typeface="Calibri" panose="020F0502020204030204"/>
                        <a:buNone/>
                      </a:pPr>
                      <a:endParaRPr sz="2400">
                        <a:solidFill>
                          <a:srgbClr val="7030A0"/>
                        </a:solidFill>
                      </a:endParaRPr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Appendices A - F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Completed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56f1998e3_1_2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0070C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000" b="1" i="0" dirty="0">
                <a:solidFill>
                  <a:srgbClr val="1F497D"/>
                </a:solidFill>
                <a:latin typeface="Cambria"/>
              </a:rPr>
              <a:t>PUBLICATIONS (CONFERENCE / JOURNAL / PATENT)</a:t>
            </a:r>
          </a:p>
        </p:txBody>
      </p:sp>
      <p:sp>
        <p:nvSpPr>
          <p:cNvPr id="219" name="Google Shape;219;g2756f1998e3_1_24"/>
          <p:cNvSpPr txBox="1">
            <a:spLocks noGrp="1"/>
          </p:cNvSpPr>
          <p:nvPr>
            <p:ph type="body" idx="1"/>
          </p:nvPr>
        </p:nvSpPr>
        <p:spPr>
          <a:xfrm>
            <a:off x="838200" y="105294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</a:pPr>
            <a:r>
              <a:rPr lang="en-US" b="1">
                <a:solidFill>
                  <a:srgbClr val="385623"/>
                </a:solidFill>
              </a:rPr>
              <a:t> </a:t>
            </a:r>
            <a:endParaRPr sz="2000">
              <a:solidFill>
                <a:srgbClr val="38562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220" name="Google Shape;220;g2756f1998e3_1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221" name="Google Shape;221;g2756f1998e3_1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222" name="Google Shape;222;g2756f1998e3_1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graphicFrame>
        <p:nvGraphicFramePr>
          <p:cNvPr id="223" name="Google Shape;223;g2756f1998e3_1_24"/>
          <p:cNvGraphicFramePr/>
          <p:nvPr/>
        </p:nvGraphicFramePr>
        <p:xfrm>
          <a:off x="838200" y="1645087"/>
          <a:ext cx="10111525" cy="3966790"/>
        </p:xfrm>
        <a:graphic>
          <a:graphicData uri="http://schemas.openxmlformats.org/drawingml/2006/table">
            <a:tbl>
              <a:tblPr firstRow="1" bandRow="1">
                <a:noFill/>
                <a:tableStyleId>{59112CDE-5FDA-4E9B-8773-7A6DA2ED8F42}</a:tableStyleId>
              </a:tblPr>
              <a:tblGrid>
                <a:gridCol w="988300"/>
                <a:gridCol w="5752725"/>
                <a:gridCol w="3370500"/>
              </a:tblGrid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3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SL. No.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3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Paper / Manuscript Title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3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Status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3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Manuscript in preparation: SentinelMesh - Multi-Agent Automated Software Testing using AST Analysis and Sandboxed Execution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3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In progress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3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No conference/journal/patent submitted as of Second Review date.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3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-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  <a:tr h="55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56f1998e3_1_8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0070C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ORIGINALITY SCORE</a:t>
            </a:r>
          </a:p>
        </p:txBody>
      </p:sp>
      <p:sp>
        <p:nvSpPr>
          <p:cNvPr id="229" name="Google Shape;229;g2756f1998e3_1_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230" name="Google Shape;230;g2756f1998e3_1_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231" name="Google Shape;231;g2756f1998e3_1_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232" name="Google Shape;232;g2756f1998e3_1_88"/>
          <p:cNvSpPr txBox="1"/>
          <p:nvPr/>
        </p:nvSpPr>
        <p:spPr>
          <a:xfrm>
            <a:off x="1744050" y="1891850"/>
            <a:ext cx="851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33" name="Google Shape;233;g2756f1998e3_1_88"/>
          <p:cNvGraphicFramePr/>
          <p:nvPr/>
        </p:nvGraphicFramePr>
        <p:xfrm>
          <a:off x="838200" y="1645087"/>
          <a:ext cx="10111525" cy="3966790"/>
        </p:xfrm>
        <a:graphic>
          <a:graphicData uri="http://schemas.openxmlformats.org/drawingml/2006/table">
            <a:tbl>
              <a:tblPr firstRow="1" bandRow="1">
                <a:noFill/>
                <a:tableStyleId>{59112CDE-5FDA-4E9B-8773-7A6DA2ED8F42}</a:tableStyleId>
              </a:tblPr>
              <a:tblGrid>
                <a:gridCol w="988300"/>
                <a:gridCol w="5752725"/>
                <a:gridCol w="3370500"/>
              </a:tblGrid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SL. No.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Tool Name for Checking Originality Score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Status / Score / Link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97D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1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Turnitin / iThenticate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Pending - to be submitted before final viva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445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Grammarly Plagiarism Checker (secondary)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  <a:r>
                        <a:rPr lang="en-IN" sz="1400" b="0" i="0" dirty="0">
                          <a:solidFill>
                            <a:srgbClr val="000000"/>
                          </a:solidFill>
                          <a:latin typeface="Cambria"/>
                        </a:rPr>
                        <a:t>Pending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</a:tr>
              <a:tr h="55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>
            <a:spLocks noGrp="1"/>
          </p:cNvSpPr>
          <p:nvPr>
            <p:ph type="body" idx="1"/>
          </p:nvPr>
        </p:nvSpPr>
        <p:spPr>
          <a:xfrm>
            <a:off x="838200" y="911514"/>
            <a:ext cx="10674927" cy="5444836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800"/>
              <a:buNone/>
            </a:pPr>
            <a:endParaRPr lang="en-US" b="1">
              <a:solidFill>
                <a:srgbClr val="385623"/>
              </a:solidFill>
            </a:endParaRPr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[1]  HARIESHPERIASAMY, S5_Mini_Project - SentinelMesh, GitHub, 2026. https://github.com/HARIESHPERIASAMY/S5_Mini_Project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[2]  Python Software Foundation, ast - Abstract Syntax Trees, Python 3.11 Docs. https://docs.python.org/3/library/ast.html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[3]  T. Ramirez, FastAPI Documentation, Tiangolo, 2024. https://fastapi.tiangolo.com/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[4]  Pytest Development Team, pytest Documentation, 2024. https://docs.pytest.org/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[5]  SQLAlchemy Authors, SQLAlchemy Documentation, 2024. https://docs.sqlalchemy.org/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[6]  React Authors, React 18 Documentation, Meta Open Source, 2024. https://react.dev/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[7]  M. Wooldridge and N. Jennings, Intelligent Agents: Theory and Practice, Knowledge Engineering Review, vol.10, no.2, pp.115-152, 1995.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[8]  A. Zeller, Why Programs Fail: A Guide to Systematic Debugging, 2nd ed., Morgan Kaufmann, 2009.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[9]  P. Ammann and J. Offutt, Introduction to Software Testing, 2nd ed., Cambridge University Press, 2016.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[10] S. Yoo and M. Harman, Regression Testing Minimisation, Selection and Prioritisation: A Survey, STVR, vol.22, no.2, pp.67-120, 2012.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[11] G. Fraser and A. Arcuri, EvoSuite: Automatic Test Suite Generation for Object-Oriented Software, in Proc. FSE, 2011, pp.416-419.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[12] R. Feldt et al., Finding test data in existing code, in Proc. ICSME, 2013, pp.1-10.</a:t>
            </a:r>
          </a:p>
          <a:p>
            <a:pPr algn="l"/>
            <a:r>
              <a:rPr lang="en-IN" sz="1200" b="0" i="0" dirty="0">
                <a:solidFill>
                  <a:srgbClr val="000000"/>
                </a:solidFill>
                <a:latin typeface="Cambria"/>
              </a:rPr>
              <a:t>[13] M. Harman and B. Jones, Search-based software engineering, Information &amp; Software Technology, vol.43, no.14, pp.833-839, 2001.</a:t>
            </a:r>
          </a:p>
        </p:txBody>
      </p:sp>
      <p:sp>
        <p:nvSpPr>
          <p:cNvPr id="239" name="Google Shape;23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13-10-2026</a:t>
            </a:r>
          </a:p>
        </p:txBody>
      </p:sp>
      <p:sp>
        <p:nvSpPr>
          <p:cNvPr id="240" name="Google Shape;24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 b="1">
              <a:solidFill>
                <a:srgbClr val="385623"/>
              </a:solidFill>
            </a:endParaRPr>
            <a:r>
              <a:rPr lang="en-IN" sz="1400" b="0" i="0" dirty="0">
                <a:solidFill>
                  <a:srgbClr val="000000"/>
                </a:solidFill>
                <a:latin typeface="Cambria"/>
              </a:rPr>
              <a:t>SECOND REVIEW PRESENTATION</a:t>
            </a:r>
          </a:p>
        </p:txBody>
      </p:sp>
      <p:sp>
        <p:nvSpPr>
          <p:cNvPr id="241" name="Google Shape;24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fld id="{00000000-1234-1234-1234-123412341234}" type="slidenum">
              <a:rPr lang="en-US" sz="1800" b="1">
                <a:solidFill>
                  <a:srgbClr val="385623"/>
                </a:solidFill>
              </a:rPr>
            </a:fld>
            <a:endParaRPr sz="1800" b="1">
              <a:solidFill>
                <a:srgbClr val="385623"/>
              </a:solidFill>
            </a:endParaRPr>
          </a:p>
        </p:txBody>
      </p:sp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 panose="02040503050406030204"/>
              <a:buNone/>
            </a:pPr>
            <a:endParaRPr sz="2400" b="1">
              <a:solidFill>
                <a:srgbClr val="0070C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  <a:r>
              <a:rPr lang="en-IN" sz="2200" b="1" i="0" dirty="0">
                <a:solidFill>
                  <a:srgbClr val="1F497D"/>
                </a:solidFill>
                <a:latin typeface="Cambria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4087</Words>
  <Application>WPS Presentation</Application>
  <PresentationFormat>Widescreen</PresentationFormat>
  <Paragraphs>340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Cambria</vt:lpstr>
      <vt:lpstr>Roboto</vt:lpstr>
      <vt:lpstr>Microsoft YaHei</vt:lpstr>
      <vt:lpstr>Arial Unicode MS</vt:lpstr>
      <vt:lpstr>Office Theme</vt:lpstr>
      <vt:lpstr>Academic Year 2026 - 27  S7 PROJECT WORK I Second Review </vt:lpstr>
      <vt:lpstr>PROJECT WORK PLAN </vt:lpstr>
      <vt:lpstr>EFFECTIVE UTILIZATION OF THE MODERN TOOL</vt:lpstr>
      <vt:lpstr>PROPOSED METHODOLOGY ( Flow Chart) </vt:lpstr>
      <vt:lpstr>PROPOSED METHODOLOGY ( Gantt Chart) </vt:lpstr>
      <vt:lpstr>MODULES</vt:lpstr>
      <vt:lpstr>ADVANTAGES AND DISADVANTAGES</vt:lpstr>
      <vt:lpstr>CONCLUSION</vt:lpstr>
      <vt:lpstr>COST BENEFIT ANALYSIS</vt:lpstr>
      <vt:lpstr>INDIVIDUAL CONTRIBUTIONS TO THE WORK </vt:lpstr>
      <vt:lpstr>INDIVIDUAL CONTRIBUTIONS TO THE WORK </vt:lpstr>
      <vt:lpstr>INDIVIDUAL CONTRIBUTIONS TO THE WORK </vt:lpstr>
      <vt:lpstr>Status on Partial Completion and Submission of Project Report</vt:lpstr>
      <vt:lpstr>Submission of Project Report</vt:lpstr>
      <vt:lpstr>PUBLICATIONS (CONFERENCE / JOURNAL / PATENT)</vt:lpstr>
      <vt:lpstr>ORIGINALITY SCORE</vt:lpstr>
      <vt:lpstr>REFERENCES ( Journal Papers/ Books/ Website References 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Year 2026 - 27  S7 PROJECT WORK I Second Review</dc:title>
  <dc:creator>TRC</dc:creator>
  <cp:lastModifiedBy>Student</cp:lastModifiedBy>
  <cp:revision>3</cp:revision>
  <dcterms:created xsi:type="dcterms:W3CDTF">2023-07-14T12:21:00Z</dcterms:created>
  <dcterms:modified xsi:type="dcterms:W3CDTF">2026-10-10T10:21:43Z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309E212AB5514F2D84797A781205365A_12</vt:lpwstr>
  </property>
  <property fmtid="{D5CDD505-2E9C-101B-9397-08002B2CF9AE}" pid="3" name="KSOProductBuildVer">
    <vt:lpwstr>1033-12.1.0.29162</vt:lpwstr>
  </property>
</Properties>
</file>